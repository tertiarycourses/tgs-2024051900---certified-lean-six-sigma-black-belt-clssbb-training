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5740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61B26"/>
                </a:solidFill>
                <a:latin typeface="Arial"/>
              </a:rPr>
              <a:t>Certified Lean Six Sigma Black Belt (CLSSBB)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96012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WSQ Course Code: TGS-2024051900
Conducted by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989320"/>
            <a:ext cx="1645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607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Welcome and Course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Training hours: 9:00 AM to 6:00 PM each day.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Please sign in and complete SSG digital attendance as instructed.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Keep your lab journal open throughout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3337560" cy="4206240"/>
          </a:xfrm>
          <a:prstGeom prst="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23317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3337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00600"/>
            <a:ext cx="2743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73152" cy="548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911095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28032" y="218541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514600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514600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2642616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291693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246120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24612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374136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8032" y="364845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977639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977639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4105655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8032" y="437997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709159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4709159"/>
            <a:ext cx="73152" cy="548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4837175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28032" y="511149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5440679"/>
            <a:ext cx="6629400" cy="5486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5440679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5568695"/>
            <a:ext cx="34747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28032" y="5843016"/>
            <a:ext cx="3931920" cy="13716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3337560" cy="4206240"/>
          </a:xfrm>
          <a:prstGeom prst="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3317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3337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00600"/>
            <a:ext cx="28346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783080"/>
            <a:ext cx="6629400" cy="822960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783080"/>
            <a:ext cx="73152" cy="822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603504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21991"/>
            <a:ext cx="6035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862072"/>
            <a:ext cx="6629400" cy="822960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862072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044952"/>
            <a:ext cx="603504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300984"/>
            <a:ext cx="6035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941063"/>
            <a:ext cx="6629400" cy="822960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941063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123944"/>
            <a:ext cx="603504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379975"/>
            <a:ext cx="6035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WSQ courses on Lean Six Sigma, analytics, AI automation and app development.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5020055"/>
            <a:ext cx="6629400" cy="822960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5020055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5202936"/>
            <a:ext cx="603504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458967"/>
            <a:ext cx="6035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is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AM, PM, and assessment attendance must be completed where required.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Minimum attendance requirements apply for funding and assessment eligibility.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Use the displayed QR code or portal instructions from the trainer.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08483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2140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01968" y="208483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12140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8328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7307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6732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8328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38328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1968" y="373075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6732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2920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02920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" y="5376672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41324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29200"/>
            <a:ext cx="5257800" cy="1143000"/>
          </a:xfrm>
          <a:prstGeom prst="roundRect">
            <a:avLst/>
          </a:prstGeom>
          <a:solidFill>
            <a:srgbClr val="F1F5FB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502920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01968" y="5376672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413248"/>
            <a:ext cx="3931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Courseware and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Slides, learner guide, lab instructions, and assessment access are provided through the LMS.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Save a local copy of your project artifacts after each lab.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Use the lab files as the authority for hands-on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Final assessment and project review take place on Day 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Assessment checks Black Belt concepts and application to DMAIC project artifacts.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Open courseware where permitted by the trainer's assessment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0116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33172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1600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TRAQOM digital
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880360"/>
            <a:ext cx="228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48840"/>
            <a:ext cx="20116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2331720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07792"/>
            <a:ext cx="1600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880360"/>
            <a:ext cx="228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148840"/>
            <a:ext cx="20116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233172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07792"/>
            <a:ext cx="1600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Sit WA then
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880360"/>
            <a:ext cx="228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148840"/>
            <a:ext cx="20116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233172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907792"/>
            <a:ext cx="1600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Submit answers on
the LMS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880360"/>
            <a:ext cx="228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148840"/>
            <a:ext cx="20116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4040" y="2331720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07792"/>
            <a:ext cx="1600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983480"/>
            <a:ext cx="84124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Take the Online CLSSBB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526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• Reinforce all five DMAIC phases with realistic, exam-style questions before assessment day.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• Use practice sets to test capability, MSA, hypothesis testing, DOE, FMEA, SPC and control plans.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• Review mode helps you check the correct answer and revisit the concept after each question.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61B26"/>
                </a:solidFill>
                <a:latin typeface="Arial"/>
              </a:rPr>
              <a:t>• Complete the practice questions from Google Classroom, then bring difficult items to the review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45720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4754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pic>
        <p:nvPicPr>
          <p:cNvPr id="10" name="Picture 9" descr="clssbb-practice-exam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828800"/>
            <a:ext cx="5806440" cy="3612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Lead a DMAIC improvement project at Black Belt level.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Use statistical and Lean tools to validate decisions.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Build deliverables that transfer ownership to the process owner.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Day 1: Define and Measure phases.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Day 2: Analyze, Improve, Control, assessment and closure.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All labs use one project scenario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Excel, LibreOffice Calc, or Google Sheets for analysis.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diagrams.net or equivalent for maps and fishbone diagrams.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Project templates for charter, SIPOC, FMEA, control plan, and storyboard.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Use one project scenario across all labs.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Keep formulas visible where possible.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Do not claim root cause without evidence.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Save every chart and artifact for the final project storyboard.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Version Control and Copyright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Version 1.0 issued 9 July 2026.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Copyright 2026 Tertiary Infotech Academy Pte Ltd. All rights reserved.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Do not redistribute without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DMAIC is the spine of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ssbb-dmaic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7373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Each lab produces an artifact reused later.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Define and Measure establish trustworthy scope and baseline.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Analyze, Improve, and Control convert evidence into sustained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PROJECT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Black Belt project artifacts accumulate across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Charter and CTQs define what matters.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SIPOC, maps, and data plans define how to measure.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Tests, FMEA, and control plans define how to decide and sustain.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SIPOC links customer requirements to the process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ssbb-sipoc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7373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Start broad enough to see suppliers and customers.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Use the map to choose useful data collection points.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Update scope notes when the map exposes ambiguity.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Measurement quality comes before statistical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Operational definitions prevent inconsistent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MSA risk notes document whether the metric can be trusted.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Capability claims require stable and relevant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Root causes need an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ssbb-analysis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7373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Use fishbone and 5 Whys to generate causes.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Use Pareto, tests, regression, or ANOVA to validate causes.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Separate statistical significance from practical significance.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 turns improvement into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ssbb-control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7373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SPC detects performance drift.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Response plans tell owners what to do.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61B26"/>
                </a:solidFill>
                <a:latin typeface="Arial"/>
              </a:rPr>
              <a:t>• Benefits tracking keeps gains visible after handover.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01: Project Charter, VOC, and CTQ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a Black Belt project scenario.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Build a project charter.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Capture voice of customer.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Translate VOC into measurable CTQs.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01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You have been assigned to lead a process improvement project. Before collecting data, you must define the business problem, scope, customers, and measurable success criteria.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a process problem from your workplace or use a trainer-provided scenario.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Write a one-paragraph business case.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Write the problem statement using current performance facts.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Avoid including assumed causes in the problem statement.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Write a SMART goal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01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problem statement includes measurable current performance.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goal statement has target and timeline.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Each CTQ can be measured.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Scope boundaries are clear enough to prevent project drift.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Project charter.; RACI table.; VOC table.; CTQ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01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a problem statement avoid assumed causes?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makes a CTQ measurable?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How does project scope protect the team?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the Black Belt's role in stakeholder alignment?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02: SIPOC, Process Map, and Waste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Build a SIPOC.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Map the current-state process.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Identify handoffs, queues, rework, and waste.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Refine the project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02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project charter defines the problem, but the team needs a shared view of the process before measuring performance. You will map the current process and identify where waste may exist.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Write the process start event and end event.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List the main customers and outputs.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List the major process steps between start and end.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List key inputs and suppliers.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Build a SIPOC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02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SIPOC matches the project scope.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process map is understandable to someone outside the team.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Waste examples are linked to actual steps.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Data collection points are identified.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SIPOC.; Current-state process map.; Waste analysis table.; Updated scope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02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is SIPOC useful before detailed process mapping?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the difference between value-added and business-value-added work?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How can process maps reveal hidden rework?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data collection points be chosen after mapping?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03: Data Collection, MSA, and Process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data collection plan.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Define units, defects, and opportunities.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Assess measurement system risks.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Calculate baseline process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03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team needs trustworthy baseline data. You must define the metric carefully, check whether measurement is reliable, and calculate current process capability.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the primary Y metric from the CTQ tree.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Write an operational definition for the metric.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Define unit, defect, opportunity, target, and specification limits if available.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Choose sampling period, sample size, data source, and data owner.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Build a data collection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03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metric has an operational definition.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Data collection responsibility is assigned.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Measurement risks are documented.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Capability calculations match the data type.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Data collection plan.; Operational definition.; MSA risk notes.; Capability worksheet.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03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can poor measurement systems invalidate a project?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When would you use DPMO instead of Cp/Cpk?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the difference between short-term and long-term capability?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must specification limits come from customer or business requirements?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04: Baseline Analysis and Control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Summarize baseline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visual analysis charts.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appropriate control charts.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Interpret stability and variation.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04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Before searching for root causes, the team must understand baseline variation. A process that is unstable should not be summarized only by averages.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Import baseline data into a spreadsheet.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Check for missing values, duplicates, and obvious data entry errors.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Calculate count, mean, median, standard deviation, minimum, maximum, and range.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histogram.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time series or run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04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Descriptive statistics are calculated correctly.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chart type matches the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Special cause signals are clearly marked.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baseline interpretation separates average performance from variation.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Descriptive statistics table.; Histogram.; Run chart or time series plot.; Control chart.; Baseline interpretation.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04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stability be checked before capability claims?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common cause variation?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special cause variation?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How does chart selection depend on data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05: Root Cause Analysis and Hypothesis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Generate possible root causes.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Prioritize causes using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appropriate hypothesis tests.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Interpret statistical and practical significance.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05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team has many opinions about why the process performs poorly. Your role is to separate assumptions from validated root causes.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fishbone diagram for the project problem.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Use categories such as people, process, equipment, material, measurement, environment, and management.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at least two likely causes and apply 5 Whys.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Pareto chart if category defect data is available.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Translate suspected causes into testable hypotheses.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05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Each tested cause has a clear hypothesis.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Test choice matches the data situation.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Conclusions include practical significance.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Unsupported causes are not treated as proven.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Fishbone diagram.; 5 Whys worksheet.; Pareto chart if applicable.; Hypothesis test log.; Validated root cause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05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is a low p-value not enough by itself?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the difference between alpha and beta risk?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When would you choose a non-parametric test?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root cause validation happen before solution design?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06: Regression, ANOVA, and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Study relationships between X variables and Y performance.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Interpret regression and ANOVA output.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Plan a designed experiment.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Identify experiment risks and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06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team has narrowed the likely drivers. You will use analytical methods to understand relationships and plan an experiment to test improvement settings.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two or three suspected X variables from Lab 05.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scatter plots for continuous X and continuous Y relationships.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Calculate correlation where appropriate.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Run simple linear regression for one likely driver.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Interpret slope, intercept, R-squared, p-value, and residuals.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06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Regression or ANOVA interpretation is tied to the project question.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Assumptions and limitations are documented.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DOE factors and levels are controllable.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Experiment risks are identified before execution.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Scatter plot or group comparison chart.; Regression or ANOVA summary.; DOE planning worksheet.; Experiment risk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06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does R-squared explain?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residuals be checked?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question does ANOVA answer?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are randomization and replication important in DOE?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07: Improvement Selection, FMEA, and Pilot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Generate improvements linked to validated causes.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solutions using a decision matrix.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Assess risk with FMEA.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Plan a controlled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07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team is ready to improve the process. The challenge is to choose solutions that address proven causes and can be tested without creating new risks.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List validated root causes from Lab 05 and Lab 06.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Brainstorm improvement ideas for each validated cause.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Remove ideas that are not linked to a validated cause.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solution selection matrix.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Score each solution by impact, effort, cost, time, risk, and stakeholder acceptance.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07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Selected improvements address validated causes.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FMEA actions are assigned to owners.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Pilot success criteria are measurable.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Rollback conditions are clear.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Solution selection matrix.; FMEA.; Pilot plan.; Stakeholder communication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07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solution selection wait until causes are validated?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do severity, occurrence, and detection measure?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is mistake-proofing often stronger than inspection?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makes a pilot safer than a full rollout?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08: Control Plan, SPC, and Benefits Realization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Create a control plan and response plan.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ongoing SPC measures.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Define ownership and handover.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Track benefits and close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08 scenario and work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The pilot has shown improvement. You must ensure the process owner can sustain the gains and respond when performance drifts.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List the improved process steps that require control.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Identify critical inputs and outputs.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Define specification limits, target values, and measurement method.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Select monitoring frequency and sample size.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Assign process owner and backup owner.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08 completion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Control plan has clear owners and frequency.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Response plan tells the process owner what to do when performance changes.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Benefit claims are traceable to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Final storyboard tells the DMAIC story clearly.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Deliverables: Control plan.; Response plan.; SPC monitoring plan.; Benefits realization worksheet.; Final DMAIC storyboard.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08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do improvements fail without a control plan?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What is the difference between monitoring and response?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Why should benefits be tracked after implementation?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How does a final storyboard support project closure?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Complete TRAQOM and course feedback requirements.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Confirm all required attendance records are complete.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Check certificate and competency instructions with the trainer.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Project Storyboard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Tell the DMAIC story using evidence from each lab.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Show how the selected improvement links to validated root causes.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Explain the control plan and how benefits will be sustained.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10881360" cy="190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You have completed the CLSSBB DMAIC course flow.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Keep using evidence, operational definitions, and control plans in real projects.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Questions and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Black Belt (CLSSBB) Training | TGS-2024051900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73952"/>
            <a:ext cx="4114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858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